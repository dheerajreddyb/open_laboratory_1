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3"/>
  </p:notesMasterIdLst>
  <p:sldIdLst>
    <p:sldId id="258" r:id="rId2"/>
    <p:sldId id="274" r:id="rId3"/>
    <p:sldId id="298" r:id="rId4"/>
    <p:sldId id="302" r:id="rId5"/>
    <p:sldId id="315" r:id="rId6"/>
    <p:sldId id="309" r:id="rId7"/>
    <p:sldId id="312" r:id="rId8"/>
    <p:sldId id="316" r:id="rId9"/>
    <p:sldId id="314" r:id="rId10"/>
    <p:sldId id="313" r:id="rId11"/>
    <p:sldId id="31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89" autoAdjust="0"/>
    <p:restoredTop sz="94660"/>
  </p:normalViewPr>
  <p:slideViewPr>
    <p:cSldViewPr snapToGrid="0">
      <p:cViewPr varScale="1">
        <p:scale>
          <a:sx n="79" d="100"/>
          <a:sy n="79" d="100"/>
        </p:scale>
        <p:origin x="90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27866-E2A1-4FEE-B3A0-4684E8E32300}" type="datetimeFigureOut">
              <a:rPr lang="en-IN" smtClean="0"/>
              <a:t>29-08-2025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9D209-6920-48E8-9E99-C345ED0B91F2}" type="slidenum">
              <a:rPr lang="en-IN" smtClean="0"/>
              <a:t>‹#›</a:t>
            </a:fld>
            <a:endParaRPr lang="en-IN"/>
          </a:p>
        </p:txBody>
      </p:sp>
    </p:spTree>
    <p:extLst>
      <p:ext uri="{BB962C8B-B14F-4D97-AF65-F5344CB8AC3E}">
        <p14:creationId xmlns:p14="http://schemas.microsoft.com/office/powerpoint/2010/main" val="253307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3290A3-CC82-42A3-9493-AD448FDAE8C6}" type="datetime1">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9642D98A-1CF9-B2EA-03DC-085714D50C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395" y="23813"/>
            <a:ext cx="2612246" cy="642978"/>
          </a:xfrm>
          <a:prstGeom prst="rect">
            <a:avLst/>
          </a:prstGeom>
        </p:spPr>
      </p:pic>
    </p:spTree>
    <p:extLst>
      <p:ext uri="{BB962C8B-B14F-4D97-AF65-F5344CB8AC3E}">
        <p14:creationId xmlns:p14="http://schemas.microsoft.com/office/powerpoint/2010/main" val="249638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3D928-BDD7-4354-9A29-8AD08345FC2F}" type="datetime1">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131B9688-F3C5-BCED-0AE8-4FF170B7B7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94955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B4487-5772-4519-92E5-95945F7A4262}" type="datetime1">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2D21BF30-5552-0CA1-7F91-66FD1A83D2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111113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D39D5F-CFCA-49B1-99ED-6A41409CC4C6}" type="datetime1">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7E759B64-7B68-81FA-E2BA-E6B10D981D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006127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2A0801-8A7A-4502-ACBE-1FBA99A44977}" type="datetime1">
              <a:rPr lang="en-IN" smtClean="0"/>
              <a:t>29-08-2025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898A6D-CD5C-4802-925B-E5FD8D219589}" type="slidenum">
              <a:rPr lang="en-IN" smtClean="0"/>
              <a:t>‹#›</a:t>
            </a:fld>
            <a:endParaRPr lang="en-IN"/>
          </a:p>
        </p:txBody>
      </p:sp>
      <p:pic>
        <p:nvPicPr>
          <p:cNvPr id="10" name="Picture 9" descr="A picture containing logo&#10;&#10;Description automatically generated">
            <a:extLst>
              <a:ext uri="{FF2B5EF4-FFF2-40B4-BE49-F238E27FC236}">
                <a16:creationId xmlns:a16="http://schemas.microsoft.com/office/drawing/2014/main" id="{858FBAF4-F14B-7E0C-B093-D4961ED68F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85538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0EDEC8-7F93-42BD-B355-7335EE486EBE}" type="datetime1">
              <a:rPr lang="en-IN" smtClean="0"/>
              <a:t>29-08-2025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898A6D-CD5C-4802-925B-E5FD8D219589}" type="slidenum">
              <a:rPr lang="en-IN" smtClean="0"/>
              <a:t>‹#›</a:t>
            </a:fld>
            <a:endParaRPr lang="en-IN"/>
          </a:p>
        </p:txBody>
      </p:sp>
      <p:pic>
        <p:nvPicPr>
          <p:cNvPr id="6" name="Picture 5" descr="A picture containing logo&#10;&#10;Description automatically generated">
            <a:extLst>
              <a:ext uri="{FF2B5EF4-FFF2-40B4-BE49-F238E27FC236}">
                <a16:creationId xmlns:a16="http://schemas.microsoft.com/office/drawing/2014/main" id="{F2D585C3-C5CA-D45F-545B-EEF3383F7A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06681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01C783-041F-4E67-90F3-122526AC43AD}" type="datetime1">
              <a:rPr lang="en-IN" smtClean="0"/>
              <a:t>29-08-2025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898A6D-CD5C-4802-925B-E5FD8D219589}" type="slidenum">
              <a:rPr lang="en-IN" smtClean="0"/>
              <a:t>‹#›</a:t>
            </a:fld>
            <a:endParaRPr lang="en-IN"/>
          </a:p>
        </p:txBody>
      </p:sp>
      <p:pic>
        <p:nvPicPr>
          <p:cNvPr id="5" name="Picture 4" descr="A picture containing logo&#10;&#10;Description automatically generated">
            <a:extLst>
              <a:ext uri="{FF2B5EF4-FFF2-40B4-BE49-F238E27FC236}">
                <a16:creationId xmlns:a16="http://schemas.microsoft.com/office/drawing/2014/main" id="{C7E320DE-1E31-0CC1-9E16-6891A715BC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469104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D916FF-C6BE-4028-A08F-EF305206B2F0}" type="datetime1">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E6E350A1-690D-6FF6-9AEE-88CD0F7A27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72801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CE0009-041A-4B8D-A39A-CB894A26B908}" type="datetime1">
              <a:rPr lang="en-IN" smtClean="0"/>
              <a:t>29-08-2025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B0F4E6C5-6983-0CB7-B977-ABE4DAB3B6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239545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E71545-228F-42CE-9D96-6A8A5BC7D304}" type="datetime1">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C3AC931B-8F26-3B95-7533-D807274205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062587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8C8C4E-D487-4836-88D3-B5D37397FDB2}" type="datetime1">
              <a:rPr lang="en-IN" smtClean="0"/>
              <a:t>29-08-2025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8603A424-6C04-9BFE-6E69-8727683A14F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188485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Picture 1" descr="A picture containing logo&#10;&#10;Description automatically generated">
            <a:extLst>
              <a:ext uri="{FF2B5EF4-FFF2-40B4-BE49-F238E27FC236}">
                <a16:creationId xmlns:a16="http://schemas.microsoft.com/office/drawing/2014/main" id="{0C5100EB-EC03-19A8-A812-31C2FEEE9F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26271726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0BEA2A-61F6-4097-9FDE-FE2D398AA705}" type="datetime1">
              <a:rPr lang="en-IN" smtClean="0"/>
              <a:t>29-08-2025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98A6D-CD5C-4802-925B-E5FD8D219589}" type="slidenum">
              <a:rPr lang="en-IN" smtClean="0"/>
              <a:t>‹#›</a:t>
            </a:fld>
            <a:endParaRPr lang="en-IN"/>
          </a:p>
        </p:txBody>
      </p:sp>
    </p:spTree>
    <p:extLst>
      <p:ext uri="{BB962C8B-B14F-4D97-AF65-F5344CB8AC3E}">
        <p14:creationId xmlns:p14="http://schemas.microsoft.com/office/powerpoint/2010/main" val="16626391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object 12">
            <a:extLst>
              <a:ext uri="{FF2B5EF4-FFF2-40B4-BE49-F238E27FC236}">
                <a16:creationId xmlns:a16="http://schemas.microsoft.com/office/drawing/2014/main" id="{9663BE87-ACDA-42D9-9FFA-F6D293C54D20}"/>
              </a:ext>
            </a:extLst>
          </p:cNvPr>
          <p:cNvSpPr txBox="1">
            <a:spLocks/>
          </p:cNvSpPr>
          <p:nvPr/>
        </p:nvSpPr>
        <p:spPr>
          <a:xfrm>
            <a:off x="1158605" y="1655160"/>
            <a:ext cx="9767846" cy="447558"/>
          </a:xfrm>
          <a:prstGeom prst="rect">
            <a:avLst/>
          </a:prstGeom>
        </p:spPr>
        <p:txBody>
          <a:bodyPr vert="horz" wrap="square" lIns="0" tIns="16510" rIns="0" bIns="0" rtlCol="0" anchor="ctr">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30"/>
              </a:spcBef>
            </a:pPr>
            <a:r>
              <a:rPr lang="en-US" sz="2800" b="1" spc="-5" dirty="0">
                <a:solidFill>
                  <a:srgbClr val="FFFFFF"/>
                </a:solidFill>
                <a:latin typeface="Times New Roman" panose="02020603050405020304" pitchFamily="18" charset="0"/>
                <a:cs typeface="Times New Roman" panose="02020603050405020304" pitchFamily="18" charset="0"/>
              </a:rPr>
              <a:t>   </a:t>
            </a:r>
            <a:r>
              <a:rPr lang="en-US" sz="2800" b="1" spc="-5" dirty="0">
                <a:latin typeface="Times New Roman" panose="02020603050405020304" pitchFamily="18" charset="0"/>
                <a:cs typeface="Times New Roman" panose="02020603050405020304" pitchFamily="18" charset="0"/>
              </a:rPr>
              <a:t>EVALUATION I</a:t>
            </a:r>
            <a:endParaRPr lang="en-US" sz="2800" b="1" dirty="0">
              <a:latin typeface="Times New Roman" panose="02020603050405020304" pitchFamily="18" charset="0"/>
              <a:cs typeface="Times New Roman" panose="02020603050405020304" pitchFamily="18" charset="0"/>
            </a:endParaRPr>
          </a:p>
        </p:txBody>
      </p:sp>
      <p:sp>
        <p:nvSpPr>
          <p:cNvPr id="47" name="object 13">
            <a:extLst>
              <a:ext uri="{FF2B5EF4-FFF2-40B4-BE49-F238E27FC236}">
                <a16:creationId xmlns:a16="http://schemas.microsoft.com/office/drawing/2014/main" id="{EF04BD33-7DC6-4157-97EA-6B6FAC7EF66F}"/>
              </a:ext>
            </a:extLst>
          </p:cNvPr>
          <p:cNvSpPr txBox="1"/>
          <p:nvPr/>
        </p:nvSpPr>
        <p:spPr>
          <a:xfrm>
            <a:off x="875030" y="2561647"/>
            <a:ext cx="10441940" cy="867353"/>
          </a:xfrm>
          <a:prstGeom prst="rect">
            <a:avLst/>
          </a:prstGeom>
        </p:spPr>
        <p:txBody>
          <a:bodyPr vert="horz" wrap="square" lIns="0" tIns="5715" rIns="0" bIns="0" rtlCol="0">
            <a:spAutoFit/>
          </a:bodyPr>
          <a:lstStyle/>
          <a:p>
            <a:pPr marL="12700" marR="5080" algn="ctr">
              <a:lnSpc>
                <a:spcPct val="102400"/>
              </a:lnSpc>
              <a:spcBef>
                <a:spcPts val="45"/>
              </a:spcBef>
            </a:pPr>
            <a:r>
              <a:rPr lang="en-US" sz="2800" dirty="0"/>
              <a:t>Implementing Signal Processing Algorithms for Radar Measurements using LAUNCHXL-F28379D</a:t>
            </a:r>
            <a:endParaRPr sz="4400" dirty="0">
              <a:latin typeface="Times New Roman" panose="02020603050405020304" pitchFamily="18" charset="0"/>
              <a:cs typeface="Times New Roman" panose="02020603050405020304" pitchFamily="18" charset="0"/>
            </a:endParaRPr>
          </a:p>
        </p:txBody>
      </p:sp>
      <p:sp>
        <p:nvSpPr>
          <p:cNvPr id="48" name="object 15">
            <a:extLst>
              <a:ext uri="{FF2B5EF4-FFF2-40B4-BE49-F238E27FC236}">
                <a16:creationId xmlns:a16="http://schemas.microsoft.com/office/drawing/2014/main" id="{1B19C00C-03AD-4100-A48A-B1C904A7067A}"/>
              </a:ext>
            </a:extLst>
          </p:cNvPr>
          <p:cNvSpPr txBox="1"/>
          <p:nvPr/>
        </p:nvSpPr>
        <p:spPr>
          <a:xfrm>
            <a:off x="6699444" y="4025274"/>
            <a:ext cx="5492556" cy="2355132"/>
          </a:xfrm>
          <a:prstGeom prst="rect">
            <a:avLst/>
          </a:prstGeom>
        </p:spPr>
        <p:txBody>
          <a:bodyPr vert="horz" wrap="square" lIns="0" tIns="15875" rIns="0" bIns="0" rtlCol="0">
            <a:spAutoFit/>
          </a:bodyPr>
          <a:lstStyle/>
          <a:p>
            <a:pPr marL="12700">
              <a:spcBef>
                <a:spcPts val="125"/>
              </a:spcBef>
            </a:pPr>
            <a:endParaRPr lang="en-IN" sz="2000" b="1" dirty="0">
              <a:latin typeface="Georgia"/>
              <a:cs typeface="Georgia"/>
            </a:endParaRPr>
          </a:p>
          <a:p>
            <a:pPr marL="12700" marR="887730">
              <a:lnSpc>
                <a:spcPct val="100200"/>
              </a:lnSpc>
            </a:pPr>
            <a:r>
              <a:rPr lang="en-US" b="1" dirty="0">
                <a:latin typeface="Georgia"/>
                <a:cs typeface="Georgia"/>
              </a:rPr>
              <a:t>Name of the Guide</a:t>
            </a:r>
            <a:r>
              <a:rPr lang="en-US" b="1" spc="-5" dirty="0">
                <a:latin typeface="Georgia"/>
                <a:cs typeface="Georgia"/>
              </a:rPr>
              <a:t>: </a:t>
            </a:r>
            <a:r>
              <a:rPr lang="en-US" dirty="0"/>
              <a:t>Dr. Dhanesh G Kurup</a:t>
            </a:r>
            <a:endParaRPr lang="en-IN" dirty="0"/>
          </a:p>
          <a:p>
            <a:pPr>
              <a:defRPr>
                <a:latin typeface="Times New Roman"/>
                <a:ea typeface="Times New Roman"/>
                <a:cs typeface="Times New Roman"/>
                <a:sym typeface="Times New Roman"/>
              </a:defRPr>
            </a:pPr>
            <a:endParaRPr lang="en-IN" dirty="0"/>
          </a:p>
          <a:p>
            <a:r>
              <a:rPr lang="en-IN" b="1" dirty="0">
                <a:latin typeface="Georgia"/>
              </a:rPr>
              <a:t>Name of the Evaluator: </a:t>
            </a:r>
            <a:r>
              <a:rPr lang="en-IN" dirty="0" err="1"/>
              <a:t>Dr.Bhavana</a:t>
            </a:r>
            <a:r>
              <a:rPr lang="en-IN" dirty="0"/>
              <a:t> &amp; </a:t>
            </a:r>
            <a:r>
              <a:rPr lang="en-IN" dirty="0" err="1"/>
              <a:t>Dr.Sumathi</a:t>
            </a:r>
            <a:endParaRPr lang="en-IN" dirty="0"/>
          </a:p>
          <a:p>
            <a:br>
              <a:rPr lang="en-IN" sz="2000" dirty="0"/>
            </a:br>
            <a:endParaRPr lang="en-IN" sz="2000" b="1" dirty="0">
              <a:latin typeface="Georgia"/>
            </a:endParaRPr>
          </a:p>
          <a:p>
            <a:pPr>
              <a:defRPr>
                <a:latin typeface="Times New Roman"/>
                <a:ea typeface="Times New Roman"/>
                <a:cs typeface="Times New Roman"/>
                <a:sym typeface="Times New Roman"/>
              </a:defRPr>
            </a:pPr>
            <a:endParaRPr lang="en-IN" dirty="0"/>
          </a:p>
          <a:p>
            <a:pPr marL="12700" marR="887730">
              <a:lnSpc>
                <a:spcPct val="100200"/>
              </a:lnSpc>
            </a:pPr>
            <a:endParaRPr dirty="0">
              <a:latin typeface="Georgia"/>
              <a:cs typeface="Georgia"/>
            </a:endParaRPr>
          </a:p>
        </p:txBody>
      </p:sp>
      <p:sp>
        <p:nvSpPr>
          <p:cNvPr id="50" name="TextBox 49">
            <a:extLst>
              <a:ext uri="{FF2B5EF4-FFF2-40B4-BE49-F238E27FC236}">
                <a16:creationId xmlns:a16="http://schemas.microsoft.com/office/drawing/2014/main" id="{F2DB3E56-D34D-4C9E-BC45-229A6E18A067}"/>
              </a:ext>
            </a:extLst>
          </p:cNvPr>
          <p:cNvSpPr txBox="1"/>
          <p:nvPr/>
        </p:nvSpPr>
        <p:spPr>
          <a:xfrm>
            <a:off x="1244336" y="844736"/>
            <a:ext cx="9596384" cy="461665"/>
          </a:xfrm>
          <a:prstGeom prst="rect">
            <a:avLst/>
          </a:prstGeom>
          <a:noFill/>
        </p:spPr>
        <p:txBody>
          <a:bodyPr wrap="square" rtlCol="0">
            <a:spAutoFit/>
          </a:bodyPr>
          <a:lstStyle/>
          <a:p>
            <a:pPr algn="ctr"/>
            <a:r>
              <a:rPr lang="en-IN" sz="2400" b="1" dirty="0">
                <a:latin typeface="Times New Roman" panose="02020603050405020304" pitchFamily="18" charset="0"/>
                <a:ea typeface="Calibri" panose="020F0502020204030204" pitchFamily="34" charset="0"/>
              </a:rPr>
              <a:t>23</a:t>
            </a:r>
            <a:r>
              <a:rPr lang="en-IN" sz="2400" b="1" dirty="0">
                <a:effectLst/>
                <a:latin typeface="Times New Roman" panose="02020603050405020304" pitchFamily="18" charset="0"/>
                <a:ea typeface="Calibri" panose="020F0502020204030204" pitchFamily="34" charset="0"/>
              </a:rPr>
              <a:t>ECE381 -</a:t>
            </a:r>
            <a:r>
              <a:rPr lang="en-US" sz="2400" b="1" dirty="0">
                <a:solidFill>
                  <a:srgbClr val="000000"/>
                </a:solidFill>
                <a:effectLst/>
                <a:latin typeface="Times New Roman" panose="02020603050405020304" pitchFamily="18" charset="0"/>
                <a:ea typeface="Times New Roman" panose="02020603050405020304" pitchFamily="18" charset="0"/>
              </a:rPr>
              <a:t> OPEN LAB I</a:t>
            </a:r>
            <a:endParaRPr lang="en-IN" sz="2400" b="1" dirty="0">
              <a:latin typeface="Times New Roman" panose="02020603050405020304" pitchFamily="18" charset="0"/>
              <a:cs typeface="Times New Roman" panose="02020603050405020304" pitchFamily="18" charset="0"/>
            </a:endParaRPr>
          </a:p>
        </p:txBody>
      </p:sp>
      <p:sp>
        <p:nvSpPr>
          <p:cNvPr id="2" name="object 15">
            <a:extLst>
              <a:ext uri="{FF2B5EF4-FFF2-40B4-BE49-F238E27FC236}">
                <a16:creationId xmlns:a16="http://schemas.microsoft.com/office/drawing/2014/main" id="{93011EF8-F417-CDA6-ED89-EBA9504A2043}"/>
              </a:ext>
            </a:extLst>
          </p:cNvPr>
          <p:cNvSpPr txBox="1"/>
          <p:nvPr/>
        </p:nvSpPr>
        <p:spPr>
          <a:xfrm>
            <a:off x="1158605" y="4040464"/>
            <a:ext cx="4181746" cy="1462580"/>
          </a:xfrm>
          <a:prstGeom prst="rect">
            <a:avLst/>
          </a:prstGeom>
        </p:spPr>
        <p:txBody>
          <a:bodyPr vert="horz" wrap="square" lIns="0" tIns="15875" rIns="0" bIns="0" rtlCol="0">
            <a:spAutoFit/>
          </a:bodyPr>
          <a:lstStyle/>
          <a:p>
            <a:pPr marL="12700">
              <a:spcBef>
                <a:spcPts val="125"/>
              </a:spcBef>
            </a:pPr>
            <a:endParaRPr lang="en-IN" sz="2000" b="1" dirty="0">
              <a:latin typeface="Georgia"/>
              <a:cs typeface="Georgia"/>
            </a:endParaRPr>
          </a:p>
          <a:p>
            <a:pPr marL="12700" marR="887730">
              <a:lnSpc>
                <a:spcPct val="100200"/>
              </a:lnSpc>
            </a:pPr>
            <a:r>
              <a:rPr lang="en-US" b="1" dirty="0">
                <a:latin typeface="Georgia"/>
                <a:cs typeface="Georgia"/>
              </a:rPr>
              <a:t>TEAM </a:t>
            </a:r>
            <a:r>
              <a:rPr lang="en-US" b="1" spc="-5" dirty="0">
                <a:latin typeface="Georgia"/>
                <a:cs typeface="Georgia"/>
              </a:rPr>
              <a:t>MEMBERS</a:t>
            </a:r>
            <a:r>
              <a:rPr lang="en-US" sz="2000" b="1" spc="-5" dirty="0">
                <a:latin typeface="Georgia"/>
                <a:cs typeface="Georgia"/>
              </a:rPr>
              <a:t>:</a:t>
            </a:r>
          </a:p>
          <a:p>
            <a:pPr>
              <a:defRPr>
                <a:latin typeface="Times New Roman"/>
                <a:ea typeface="Times New Roman"/>
                <a:cs typeface="Times New Roman"/>
                <a:sym typeface="Times New Roman"/>
              </a:defRPr>
            </a:pPr>
            <a:r>
              <a:rPr lang="en-IN" dirty="0"/>
              <a:t>BL.EN.U4ECE23112         Dheeraj Reddy B</a:t>
            </a:r>
          </a:p>
          <a:p>
            <a:pPr>
              <a:defRPr>
                <a:latin typeface="Times New Roman"/>
                <a:ea typeface="Times New Roman"/>
                <a:cs typeface="Times New Roman"/>
                <a:sym typeface="Times New Roman"/>
              </a:defRPr>
            </a:pPr>
            <a:r>
              <a:rPr lang="en-IN" dirty="0"/>
              <a:t>BL.EN.U4ECE23152         Vaibhavi C R</a:t>
            </a:r>
          </a:p>
          <a:p>
            <a:pPr marL="12700" marR="887730">
              <a:lnSpc>
                <a:spcPct val="100200"/>
              </a:lnSpc>
            </a:pPr>
            <a:endParaRPr dirty="0">
              <a:latin typeface="Georgia"/>
              <a:cs typeface="Georgia"/>
            </a:endParaRPr>
          </a:p>
        </p:txBody>
      </p:sp>
    </p:spTree>
    <p:extLst>
      <p:ext uri="{BB962C8B-B14F-4D97-AF65-F5344CB8AC3E}">
        <p14:creationId xmlns:p14="http://schemas.microsoft.com/office/powerpoint/2010/main" val="1283671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F6F5D-B568-44DB-9134-48AE2340FA7C}"/>
              </a:ext>
            </a:extLst>
          </p:cNvPr>
          <p:cNvSpPr>
            <a:spLocks noGrp="1"/>
          </p:cNvSpPr>
          <p:nvPr>
            <p:ph type="title"/>
          </p:nvPr>
        </p:nvSpPr>
        <p:spPr>
          <a:xfrm>
            <a:off x="0" y="136526"/>
            <a:ext cx="9316713" cy="1016414"/>
          </a:xfrm>
        </p:spPr>
        <p:txBody>
          <a:bodyPr anchor="b">
            <a:normAutofit/>
          </a:bodyPr>
          <a:lstStyle/>
          <a:p>
            <a:pPr algn="ctr"/>
            <a:r>
              <a:rPr lang="en-US" sz="3600" b="1" dirty="0">
                <a:solidFill>
                  <a:schemeClr val="tx2"/>
                </a:solidFill>
                <a:latin typeface="Times New Roman" panose="02020603050405020304" pitchFamily="18" charset="0"/>
                <a:cs typeface="Times New Roman" panose="02020603050405020304" pitchFamily="18" charset="0"/>
              </a:rPr>
              <a:t>MOTIVATION/PROBLEM STATEMENT</a:t>
            </a:r>
            <a:endParaRPr lang="en-IN" sz="3600" dirty="0">
              <a:solidFill>
                <a:schemeClr val="tx2"/>
              </a:solidFill>
            </a:endParaRPr>
          </a:p>
        </p:txBody>
      </p:sp>
      <p:sp>
        <p:nvSpPr>
          <p:cNvPr id="3" name="Content Placeholder 2">
            <a:extLst>
              <a:ext uri="{FF2B5EF4-FFF2-40B4-BE49-F238E27FC236}">
                <a16:creationId xmlns:a16="http://schemas.microsoft.com/office/drawing/2014/main" id="{E820F133-8386-40C7-9802-FC570A230891}"/>
              </a:ext>
            </a:extLst>
          </p:cNvPr>
          <p:cNvSpPr>
            <a:spLocks noGrp="1"/>
          </p:cNvSpPr>
          <p:nvPr>
            <p:ph idx="1"/>
          </p:nvPr>
        </p:nvSpPr>
        <p:spPr>
          <a:xfrm>
            <a:off x="1146703" y="1691893"/>
            <a:ext cx="10775505" cy="1528828"/>
          </a:xfrm>
        </p:spPr>
        <p:txBody>
          <a:bodyPr>
            <a:noAutofit/>
          </a:bodyPr>
          <a:lstStyle/>
          <a:p>
            <a:r>
              <a:rPr lang="en-US"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Only one slide</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Describe your problem in 3 bullets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Explain why it is important to solve this problem in 2 bullets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Explain its applications (after solved) in 1-2 bullets </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80D8EC3-D209-4046-9D28-6C32EF6BAC9B}"/>
              </a:ext>
            </a:extLst>
          </p:cNvPr>
          <p:cNvSpPr>
            <a:spLocks noGrp="1"/>
          </p:cNvSpPr>
          <p:nvPr>
            <p:ph type="sldNum" sz="quarter" idx="12"/>
          </p:nvPr>
        </p:nvSpPr>
        <p:spPr/>
        <p:txBody>
          <a:bodyPr/>
          <a:lstStyle/>
          <a:p>
            <a:fld id="{C0898A6D-CD5C-4802-925B-E5FD8D219589}" type="slidenum">
              <a:rPr lang="en-IN" smtClean="0"/>
              <a:t>2</a:t>
            </a:fld>
            <a:endParaRPr lang="en-IN"/>
          </a:p>
        </p:txBody>
      </p:sp>
      <p:sp>
        <p:nvSpPr>
          <p:cNvPr id="5" name="Date Placeholder 4">
            <a:extLst>
              <a:ext uri="{FF2B5EF4-FFF2-40B4-BE49-F238E27FC236}">
                <a16:creationId xmlns:a16="http://schemas.microsoft.com/office/drawing/2014/main" id="{DA8B7210-F937-C51A-AF02-4E504424A744}"/>
              </a:ext>
            </a:extLst>
          </p:cNvPr>
          <p:cNvSpPr>
            <a:spLocks noGrp="1"/>
          </p:cNvSpPr>
          <p:nvPr>
            <p:ph type="dt" sz="half" idx="10"/>
          </p:nvPr>
        </p:nvSpPr>
        <p:spPr/>
        <p:txBody>
          <a:bodyPr/>
          <a:lstStyle/>
          <a:p>
            <a:fld id="{F18D3312-3917-4C8D-8D3D-3E5F4DB4C899}" type="datetime1">
              <a:rPr lang="en-IN" smtClean="0"/>
              <a:t>29-08-2025</a:t>
            </a:fld>
            <a:endParaRPr lang="en-IN"/>
          </a:p>
        </p:txBody>
      </p:sp>
    </p:spTree>
    <p:extLst>
      <p:ext uri="{BB962C8B-B14F-4D97-AF65-F5344CB8AC3E}">
        <p14:creationId xmlns:p14="http://schemas.microsoft.com/office/powerpoint/2010/main" val="40558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15" name="Google Shape;63;p14"/>
          <p:cNvSpPr txBox="1">
            <a:spLocks noGrp="1"/>
          </p:cNvSpPr>
          <p:nvPr>
            <p:ph type="title"/>
          </p:nvPr>
        </p:nvSpPr>
        <p:spPr>
          <a:xfrm>
            <a:off x="914050" y="454347"/>
            <a:ext cx="9833548" cy="1066802"/>
          </a:xfrm>
          <a:prstGeom prst="rect">
            <a:avLst/>
          </a:prstGeom>
        </p:spPr>
        <p:txBody>
          <a:bodyPr vert="horz" lIns="91440" tIns="45720" rIns="91440" bIns="45720" rtlCol="0" anchor="b">
            <a:normAutofit/>
          </a:bodyPr>
          <a:lstStyle>
            <a:lvl1pPr>
              <a:defRPr sz="2500"/>
            </a:lvl1pPr>
          </a:lstStyle>
          <a:p>
            <a:r>
              <a:rPr lang="en-US" sz="3600" b="1" dirty="0">
                <a:solidFill>
                  <a:schemeClr val="tx2"/>
                </a:solidFill>
                <a:latin typeface="Times New Roman" panose="02020603050405020304" pitchFamily="18" charset="0"/>
                <a:cs typeface="Times New Roman" panose="02020603050405020304" pitchFamily="18" charset="0"/>
              </a:rPr>
              <a:t>OBJECTIVE</a:t>
            </a:r>
            <a:endParaRPr lang="en-US" sz="3600" b="1" kern="1200" dirty="0">
              <a:solidFill>
                <a:schemeClr val="tx2"/>
              </a:solidFill>
              <a:latin typeface="Times New Roman" panose="02020603050405020304" pitchFamily="18" charset="0"/>
              <a:cs typeface="Times New Roman" panose="02020603050405020304" pitchFamily="18" charset="0"/>
            </a:endParaRPr>
          </a:p>
        </p:txBody>
      </p:sp>
      <p:sp>
        <p:nvSpPr>
          <p:cNvPr id="116" name="Google Shape;64;p14"/>
          <p:cNvSpPr txBox="1">
            <a:spLocks noGrp="1"/>
          </p:cNvSpPr>
          <p:nvPr>
            <p:ph type="body" idx="1"/>
          </p:nvPr>
        </p:nvSpPr>
        <p:spPr>
          <a:xfrm>
            <a:off x="914049" y="2744065"/>
            <a:ext cx="10703643" cy="2945574"/>
          </a:xfrm>
          <a:prstGeom prst="rect">
            <a:avLst/>
          </a:prstGeom>
        </p:spPr>
        <p:txBody>
          <a:bodyPr vert="horz" lIns="91440" tIns="45720" rIns="91440" bIns="45720" rtlCol="0" anchor="ctr">
            <a:noAutofit/>
          </a:bodyPr>
          <a:lstStyle/>
          <a:p>
            <a:pPr marL="0" indent="0" algn="just">
              <a:lnSpc>
                <a:spcPct val="150000"/>
              </a:lnSpc>
              <a:buNone/>
            </a:pPr>
            <a:r>
              <a:rPr lang="en-IN" b="1" dirty="0">
                <a:solidFill>
                  <a:schemeClr val="tx2"/>
                </a:solidFill>
                <a:latin typeface="Times New Roman" panose="02020603050405020304" pitchFamily="18" charset="0"/>
                <a:cs typeface="Times New Roman" panose="02020603050405020304" pitchFamily="18" charset="0"/>
              </a:rPr>
              <a:t>State the objectives of your work here</a:t>
            </a:r>
            <a:endParaRPr lang="en-GB" b="1" dirty="0">
              <a:latin typeface="Times"/>
              <a:cs typeface="Calibri"/>
            </a:endParaRPr>
          </a:p>
          <a:p>
            <a:pPr>
              <a:lnSpc>
                <a:spcPct val="150000"/>
              </a:lnSpc>
              <a:buClr>
                <a:srgbClr val="000000"/>
              </a:buClr>
              <a:defRPr>
                <a:solidFill>
                  <a:srgbClr val="000000"/>
                </a:solidFill>
                <a:latin typeface="Times New Roman"/>
                <a:ea typeface="Times New Roman"/>
                <a:cs typeface="Times New Roman"/>
                <a:sym typeface="Times New Roman"/>
              </a:defRPr>
            </a:pPr>
            <a:endParaRPr lang="en-US" sz="2400" dirty="0">
              <a:solidFill>
                <a:schemeClr val="tx2"/>
              </a:solidFill>
            </a:endParaRPr>
          </a:p>
          <a:p>
            <a:pPr>
              <a:lnSpc>
                <a:spcPct val="150000"/>
              </a:lnSpc>
              <a:buClr>
                <a:srgbClr val="000000"/>
              </a:buClr>
              <a:defRPr>
                <a:solidFill>
                  <a:srgbClr val="000000"/>
                </a:solidFill>
                <a:latin typeface="Times New Roman"/>
                <a:ea typeface="Times New Roman"/>
                <a:cs typeface="Times New Roman"/>
                <a:sym typeface="Times New Roman"/>
              </a:defRPr>
            </a:pPr>
            <a:endParaRPr lang="en-US" sz="2400" dirty="0">
              <a:solidFill>
                <a:schemeClr val="tx2"/>
              </a:solidFill>
            </a:endParaRPr>
          </a:p>
        </p:txBody>
      </p:sp>
      <p:sp>
        <p:nvSpPr>
          <p:cNvPr id="2" name="Slide Number Placeholder 1">
            <a:extLst>
              <a:ext uri="{FF2B5EF4-FFF2-40B4-BE49-F238E27FC236}">
                <a16:creationId xmlns:a16="http://schemas.microsoft.com/office/drawing/2014/main" id="{F7A22688-0EA4-4848-B2D6-F3A56F56EF2F}"/>
              </a:ext>
            </a:extLst>
          </p:cNvPr>
          <p:cNvSpPr>
            <a:spLocks noGrp="1"/>
          </p:cNvSpPr>
          <p:nvPr>
            <p:ph type="sldNum" sz="quarter" idx="2"/>
          </p:nvPr>
        </p:nvSpPr>
        <p:spPr/>
        <p:txBody>
          <a:bodyPr/>
          <a:lstStyle/>
          <a:p>
            <a:fld id="{86CB4B4D-7CA3-9044-876B-883B54F8677D}" type="slidenum">
              <a:rPr lang="en-IN" smtClean="0"/>
              <a:t>3</a:t>
            </a:fld>
            <a:endParaRPr lang="en-IN"/>
          </a:p>
        </p:txBody>
      </p:sp>
    </p:spTree>
    <p:extLst>
      <p:ext uri="{BB962C8B-B14F-4D97-AF65-F5344CB8AC3E}">
        <p14:creationId xmlns:p14="http://schemas.microsoft.com/office/powerpoint/2010/main" val="108083311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86051-14D8-406D-B74F-C31DE8BE09F1}"/>
              </a:ext>
            </a:extLst>
          </p:cNvPr>
          <p:cNvSpPr>
            <a:spLocks noGrp="1"/>
          </p:cNvSpPr>
          <p:nvPr>
            <p:ph type="title"/>
          </p:nvPr>
        </p:nvSpPr>
        <p:spPr>
          <a:xfrm>
            <a:off x="2636479" y="210337"/>
            <a:ext cx="6441959" cy="682839"/>
          </a:xfrm>
        </p:spPr>
        <p:txBody>
          <a:bodyPr>
            <a:normAutofit/>
          </a:bodyPr>
          <a:lstStyle/>
          <a:p>
            <a:pPr algn="ctr"/>
            <a:r>
              <a:rPr lang="en-US" sz="3600" b="1" dirty="0">
                <a:solidFill>
                  <a:schemeClr val="tx2"/>
                </a:solidFill>
                <a:latin typeface="Times New Roman" panose="02020603050405020304" pitchFamily="18" charset="0"/>
                <a:cs typeface="Times New Roman" panose="02020603050405020304" pitchFamily="18" charset="0"/>
              </a:rPr>
              <a:t>LITERATURE SURVEY</a:t>
            </a:r>
            <a:endParaRPr lang="en-US" sz="3600" u="sng" dirty="0">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B05FD29F-D403-43B4-AB34-B093554D6DC2}"/>
              </a:ext>
            </a:extLst>
          </p:cNvPr>
          <p:cNvSpPr>
            <a:spLocks noGrp="1"/>
          </p:cNvSpPr>
          <p:nvPr>
            <p:ph idx="1"/>
          </p:nvPr>
        </p:nvSpPr>
        <p:spPr>
          <a:xfrm>
            <a:off x="838200" y="893176"/>
            <a:ext cx="10515600" cy="5463174"/>
          </a:xfrm>
        </p:spPr>
        <p:txBody>
          <a:bodyPr>
            <a:noAutofit/>
          </a:bodyPr>
          <a:lstStyle/>
          <a:p>
            <a:r>
              <a:rPr lang="en-US" sz="20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Add the literature referred. It can be research papers, Specifications, Datasheet, manuals, etc.</a:t>
            </a: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Detailed discussion of at least one paper or any other source material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Why did you choose to discuss this paper/patent/video?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What did you learn from this?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How are you going to apply the learnings into your project. </a:t>
            </a:r>
          </a:p>
          <a:p>
            <a:r>
              <a:rPr lang="en-IN" sz="2000" kern="100" dirty="0">
                <a:effectLst/>
                <a:latin typeface="Calibri" panose="020F0502020204030204" pitchFamily="34" charset="0"/>
                <a:ea typeface="Calibri" panose="020F0502020204030204" pitchFamily="34" charset="0"/>
                <a:cs typeface="Times New Roman" panose="02020603050405020304" pitchFamily="18" charset="0"/>
              </a:rPr>
              <a:t>Use one slide for one paper</a:t>
            </a:r>
          </a:p>
          <a:p>
            <a:pPr marL="12700" marR="5080" indent="0" algn="just">
              <a:lnSpc>
                <a:spcPct val="105000"/>
              </a:lnSpc>
              <a:spcBef>
                <a:spcPts val="35"/>
              </a:spcBef>
              <a:buNone/>
            </a:pPr>
            <a:endParaRPr lang="en-IN" sz="2000" b="1" spc="-5" dirty="0">
              <a:solidFill>
                <a:schemeClr val="accent1">
                  <a:lumMod val="50000"/>
                </a:schemeClr>
              </a:solidFill>
              <a:latin typeface="Times New Roman"/>
              <a:cs typeface="Times New Roman"/>
            </a:endParaRPr>
          </a:p>
          <a:p>
            <a:pPr marL="12700" marR="5080" indent="0" algn="just">
              <a:lnSpc>
                <a:spcPct val="105000"/>
              </a:lnSpc>
              <a:spcBef>
                <a:spcPts val="35"/>
              </a:spcBef>
              <a:buNone/>
            </a:pPr>
            <a:r>
              <a:rPr lang="en-IN" sz="2000" b="1" spc="-5" dirty="0">
                <a:solidFill>
                  <a:schemeClr val="accent1">
                    <a:lumMod val="50000"/>
                  </a:schemeClr>
                </a:solidFill>
                <a:latin typeface="Times New Roman"/>
                <a:cs typeface="Times New Roman"/>
              </a:rPr>
              <a:t>PAPER TITLE: </a:t>
            </a:r>
            <a:endParaRPr lang="en-IN" sz="2000" b="1" dirty="0">
              <a:solidFill>
                <a:schemeClr val="accent1">
                  <a:lumMod val="50000"/>
                </a:schemeClr>
              </a:solidFill>
              <a:latin typeface="Times New Roman"/>
              <a:cs typeface="Times New Roman"/>
            </a:endParaRP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OBJECTIVE:</a:t>
            </a: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METHODOLOGY:</a:t>
            </a: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INFERENCE:</a:t>
            </a:r>
          </a:p>
          <a:p>
            <a:pPr marL="0" indent="0" algn="just">
              <a:lnSpc>
                <a:spcPct val="100000"/>
              </a:lnSpc>
              <a:buNone/>
            </a:pPr>
            <a:r>
              <a:rPr lang="en-US" sz="2000" b="1" dirty="0">
                <a:solidFill>
                  <a:schemeClr val="tx2"/>
                </a:solidFill>
                <a:highlight>
                  <a:srgbClr val="FFFF00"/>
                </a:highlight>
                <a:latin typeface="Times" panose="02020603050405020304" pitchFamily="18" charset="0"/>
                <a:cs typeface="Times" panose="02020603050405020304" pitchFamily="18" charset="0"/>
              </a:rPr>
              <a:t>Second paper, Third paper can be in subsequent slides.</a:t>
            </a:r>
          </a:p>
        </p:txBody>
      </p:sp>
      <p:sp>
        <p:nvSpPr>
          <p:cNvPr id="4" name="Slide Number Placeholder 3">
            <a:extLst>
              <a:ext uri="{FF2B5EF4-FFF2-40B4-BE49-F238E27FC236}">
                <a16:creationId xmlns:a16="http://schemas.microsoft.com/office/drawing/2014/main" id="{481F95B5-65B5-4727-8A15-B61C9EB36102}"/>
              </a:ext>
            </a:extLst>
          </p:cNvPr>
          <p:cNvSpPr>
            <a:spLocks noGrp="1"/>
          </p:cNvSpPr>
          <p:nvPr>
            <p:ph type="sldNum" sz="quarter" idx="12"/>
          </p:nvPr>
        </p:nvSpPr>
        <p:spPr/>
        <p:txBody>
          <a:bodyPr/>
          <a:lstStyle/>
          <a:p>
            <a:fld id="{F3CF9E0A-753D-4DEE-8B72-21047AC14C30}" type="slidenum">
              <a:rPr lang="en-US" sz="1600" smtClean="0">
                <a:solidFill>
                  <a:schemeClr val="tx1"/>
                </a:solidFill>
                <a:latin typeface="Times" panose="02020603050405020304" pitchFamily="18" charset="0"/>
                <a:cs typeface="Times" panose="02020603050405020304" pitchFamily="18" charset="0"/>
              </a:rPr>
              <a:t>4</a:t>
            </a:fld>
            <a:endParaRPr lang="en-US" sz="1600" dirty="0">
              <a:solidFill>
                <a:schemeClr val="tx1"/>
              </a:solidFill>
              <a:latin typeface="Times" panose="02020603050405020304" pitchFamily="18" charset="0"/>
              <a:cs typeface="Times" panose="02020603050405020304" pitchFamily="18" charset="0"/>
            </a:endParaRPr>
          </a:p>
        </p:txBody>
      </p:sp>
      <p:sp>
        <p:nvSpPr>
          <p:cNvPr id="6" name="Date Placeholder 5">
            <a:extLst>
              <a:ext uri="{FF2B5EF4-FFF2-40B4-BE49-F238E27FC236}">
                <a16:creationId xmlns:a16="http://schemas.microsoft.com/office/drawing/2014/main" id="{5A4339A4-8C91-A6EF-449D-C4C14538A2F0}"/>
              </a:ext>
            </a:extLst>
          </p:cNvPr>
          <p:cNvSpPr>
            <a:spLocks noGrp="1"/>
          </p:cNvSpPr>
          <p:nvPr>
            <p:ph type="dt" sz="half" idx="10"/>
          </p:nvPr>
        </p:nvSpPr>
        <p:spPr/>
        <p:txBody>
          <a:bodyPr/>
          <a:lstStyle/>
          <a:p>
            <a:fld id="{2FEDDE68-7316-4C22-9DBB-6A45A9F243CA}" type="datetime1">
              <a:rPr lang="en-IN" smtClean="0"/>
              <a:t>29-08-2025</a:t>
            </a:fld>
            <a:endParaRPr lang="en-IN"/>
          </a:p>
        </p:txBody>
      </p:sp>
    </p:spTree>
    <p:extLst>
      <p:ext uri="{BB962C8B-B14F-4D97-AF65-F5344CB8AC3E}">
        <p14:creationId xmlns:p14="http://schemas.microsoft.com/office/powerpoint/2010/main" val="281672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9385FD-D85F-4082-8BF0-5E8581DA2EC5}"/>
              </a:ext>
            </a:extLst>
          </p:cNvPr>
          <p:cNvSpPr>
            <a:spLocks noGrp="1"/>
          </p:cNvSpPr>
          <p:nvPr>
            <p:ph type="title"/>
          </p:nvPr>
        </p:nvSpPr>
        <p:spPr>
          <a:xfrm>
            <a:off x="722290" y="136525"/>
            <a:ext cx="10515600" cy="939693"/>
          </a:xfrm>
        </p:spPr>
        <p:txBody>
          <a:bodyPr>
            <a:normAutofit/>
          </a:bodyPr>
          <a:lstStyle/>
          <a:p>
            <a:r>
              <a:rPr lang="en-US" sz="3600" b="1" spc="15" dirty="0">
                <a:solidFill>
                  <a:schemeClr val="tx2"/>
                </a:solidFill>
                <a:uFill>
                  <a:solidFill>
                    <a:srgbClr val="000000"/>
                  </a:solidFill>
                </a:uFill>
                <a:latin typeface="Times New Roman" panose="02020603050405020304" pitchFamily="18" charset="0"/>
                <a:cs typeface="Times New Roman" panose="02020603050405020304" pitchFamily="18" charset="0"/>
              </a:rPr>
              <a:t>SUMMARY OF LITERATURE SURVEY</a:t>
            </a:r>
            <a:endParaRPr lang="en-US" sz="3600" dirty="0">
              <a:solidFill>
                <a:schemeClr val="tx2"/>
              </a:solidFill>
              <a:latin typeface="Times" panose="02020603050405020304" pitchFamily="18" charset="0"/>
              <a:cs typeface="Times"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847405552"/>
              </p:ext>
            </p:extLst>
          </p:nvPr>
        </p:nvGraphicFramePr>
        <p:xfrm>
          <a:off x="268357" y="840439"/>
          <a:ext cx="11734346" cy="5319346"/>
        </p:xfrm>
        <a:graphic>
          <a:graphicData uri="http://schemas.openxmlformats.org/drawingml/2006/table">
            <a:tbl>
              <a:tblPr firstRow="1" bandRow="1">
                <a:tableStyleId>{F5AB1C69-6EDB-4FF4-983F-18BD219EF322}</a:tableStyleId>
              </a:tblPr>
              <a:tblGrid>
                <a:gridCol w="2743994">
                  <a:extLst>
                    <a:ext uri="{9D8B030D-6E8A-4147-A177-3AD203B41FA5}">
                      <a16:colId xmlns:a16="http://schemas.microsoft.com/office/drawing/2014/main" val="20000"/>
                    </a:ext>
                  </a:extLst>
                </a:gridCol>
                <a:gridCol w="2184727">
                  <a:extLst>
                    <a:ext uri="{9D8B030D-6E8A-4147-A177-3AD203B41FA5}">
                      <a16:colId xmlns:a16="http://schemas.microsoft.com/office/drawing/2014/main" val="20001"/>
                    </a:ext>
                  </a:extLst>
                </a:gridCol>
                <a:gridCol w="1504421">
                  <a:extLst>
                    <a:ext uri="{9D8B030D-6E8A-4147-A177-3AD203B41FA5}">
                      <a16:colId xmlns:a16="http://schemas.microsoft.com/office/drawing/2014/main" val="20002"/>
                    </a:ext>
                  </a:extLst>
                </a:gridCol>
                <a:gridCol w="2713201">
                  <a:extLst>
                    <a:ext uri="{9D8B030D-6E8A-4147-A177-3AD203B41FA5}">
                      <a16:colId xmlns:a16="http://schemas.microsoft.com/office/drawing/2014/main" val="20003"/>
                    </a:ext>
                  </a:extLst>
                </a:gridCol>
                <a:gridCol w="2588003">
                  <a:extLst>
                    <a:ext uri="{9D8B030D-6E8A-4147-A177-3AD203B41FA5}">
                      <a16:colId xmlns:a16="http://schemas.microsoft.com/office/drawing/2014/main" val="20004"/>
                    </a:ext>
                  </a:extLst>
                </a:gridCol>
              </a:tblGrid>
              <a:tr h="625377">
                <a:tc>
                  <a:txBody>
                    <a:bodyPr/>
                    <a:lstStyle/>
                    <a:p>
                      <a:pPr algn="ctr"/>
                      <a:r>
                        <a:rPr lang="en-IN" dirty="0">
                          <a:solidFill>
                            <a:schemeClr val="tx1">
                              <a:lumMod val="95000"/>
                              <a:lumOff val="5000"/>
                            </a:schemeClr>
                          </a:solidFill>
                        </a:rPr>
                        <a:t>Title </a:t>
                      </a:r>
                    </a:p>
                  </a:txBody>
                  <a:tcPr/>
                </a:tc>
                <a:tc>
                  <a:txBody>
                    <a:bodyPr/>
                    <a:lstStyle/>
                    <a:p>
                      <a:pPr algn="ctr"/>
                      <a:r>
                        <a:rPr lang="en-IN" dirty="0">
                          <a:solidFill>
                            <a:schemeClr val="tx1">
                              <a:lumMod val="95000"/>
                              <a:lumOff val="5000"/>
                            </a:schemeClr>
                          </a:solidFill>
                        </a:rPr>
                        <a:t>Problem Addressed</a:t>
                      </a:r>
                    </a:p>
                  </a:txBody>
                  <a:tcPr/>
                </a:tc>
                <a:tc>
                  <a:txBody>
                    <a:bodyPr/>
                    <a:lstStyle/>
                    <a:p>
                      <a:pPr algn="ctr"/>
                      <a:r>
                        <a:rPr lang="en-IN" dirty="0">
                          <a:solidFill>
                            <a:schemeClr val="tx1">
                              <a:lumMod val="95000"/>
                              <a:lumOff val="5000"/>
                            </a:schemeClr>
                          </a:solidFill>
                        </a:rPr>
                        <a:t>Methodology/Tools used</a:t>
                      </a:r>
                    </a:p>
                  </a:txBody>
                  <a:tcPr/>
                </a:tc>
                <a:tc>
                  <a:txBody>
                    <a:bodyPr/>
                    <a:lstStyle/>
                    <a:p>
                      <a:pPr algn="ctr"/>
                      <a:r>
                        <a:rPr lang="en-IN" dirty="0">
                          <a:solidFill>
                            <a:schemeClr val="tx1">
                              <a:lumMod val="95000"/>
                              <a:lumOff val="5000"/>
                            </a:schemeClr>
                          </a:solidFill>
                        </a:rPr>
                        <a:t>Final Outcomes</a:t>
                      </a:r>
                    </a:p>
                  </a:txBody>
                  <a:tcPr/>
                </a:tc>
                <a:tc>
                  <a:txBody>
                    <a:bodyPr/>
                    <a:lstStyle/>
                    <a:p>
                      <a:pPr algn="ctr"/>
                      <a:r>
                        <a:rPr lang="en-IN" dirty="0">
                          <a:solidFill>
                            <a:schemeClr val="tx1">
                              <a:lumMod val="95000"/>
                              <a:lumOff val="5000"/>
                            </a:schemeClr>
                          </a:solidFill>
                        </a:rPr>
                        <a:t>Gaps identified</a:t>
                      </a:r>
                    </a:p>
                  </a:txBody>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Paper 1</a:t>
                      </a:r>
                    </a:p>
                  </a:txBody>
                  <a:tcPr/>
                </a:tc>
                <a:tc gridSpan="4">
                  <a:txBody>
                    <a:bodyPr/>
                    <a:lstStyle/>
                    <a:p>
                      <a:r>
                        <a:rPr lang="en-US" sz="1800" kern="1200" dirty="0">
                          <a:solidFill>
                            <a:schemeClr val="dk1"/>
                          </a:solidFill>
                          <a:effectLst/>
                          <a:latin typeface="+mn-lt"/>
                          <a:ea typeface="+mn-ea"/>
                          <a:cs typeface="+mn-cs"/>
                        </a:rPr>
                        <a:t>Summary of Literature in one slide (use of a table and/or diagram is advised to summarize)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Literature may include research papers, patents, videos, URLs, etc. </a:t>
                      </a:r>
                      <a:endParaRPr lang="en-IN" sz="1800" kern="1200" dirty="0">
                        <a:solidFill>
                          <a:schemeClr val="dk1"/>
                        </a:solidFill>
                        <a:effectLst/>
                        <a:latin typeface="+mn-lt"/>
                        <a:ea typeface="+mn-ea"/>
                        <a:cs typeface="+mn-cs"/>
                      </a:endParaRPr>
                    </a:p>
                    <a:p>
                      <a:r>
                        <a:rPr lang="en-US" sz="1800" i="1" kern="1200" dirty="0">
                          <a:solidFill>
                            <a:schemeClr val="dk1"/>
                          </a:solidFill>
                          <a:effectLst/>
                          <a:latin typeface="+mn-lt"/>
                          <a:ea typeface="+mn-ea"/>
                          <a:cs typeface="+mn-cs"/>
                        </a:rPr>
                        <a:t>Highlight: </a:t>
                      </a:r>
                      <a:endParaRPr lang="en-IN" sz="1800" kern="1200" dirty="0">
                        <a:solidFill>
                          <a:schemeClr val="dk1"/>
                        </a:solidFill>
                        <a:effectLst/>
                        <a:latin typeface="+mn-lt"/>
                        <a:ea typeface="+mn-ea"/>
                        <a:cs typeface="+mn-cs"/>
                      </a:endParaRPr>
                    </a:p>
                    <a:p>
                      <a:pPr lvl="0"/>
                      <a:r>
                        <a:rPr lang="en-US" sz="1800" kern="1200" dirty="0">
                          <a:solidFill>
                            <a:schemeClr val="dk1"/>
                          </a:solidFill>
                          <a:effectLst/>
                          <a:latin typeface="+mn-lt"/>
                          <a:ea typeface="+mn-ea"/>
                          <a:cs typeface="+mn-cs"/>
                        </a:rPr>
                        <a:t>What solutions (methods) are available as of today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What is lacking or the gap </a:t>
                      </a:r>
                      <a:endParaRPr lang="en-IN" sz="18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latin typeface="Times New Roman" panose="02020603050405020304" pitchFamily="18" charset="0"/>
                        <a:cs typeface="Times New Roman" panose="02020603050405020304" pitchFamily="18" charset="0"/>
                      </a:endParaRPr>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161415">
                <a:tc>
                  <a:txBody>
                    <a:bodyPr/>
                    <a:lstStyle/>
                    <a:p>
                      <a:r>
                        <a:rPr lang="en-IN" dirty="0"/>
                        <a:t>Paper 2</a:t>
                      </a:r>
                    </a:p>
                  </a:txBody>
                  <a:tcPr/>
                </a:tc>
                <a:tc gridSpan="4">
                  <a:txBody>
                    <a:bodyPr/>
                    <a:lstStyle/>
                    <a:p>
                      <a:r>
                        <a:rPr lang="en-IN" dirty="0">
                          <a:highlight>
                            <a:srgbClr val="FFFF00"/>
                          </a:highlight>
                        </a:rPr>
                        <a:t>This is the summary of the literature referred for evaluation 2</a:t>
                      </a:r>
                    </a:p>
                  </a:txBody>
                  <a:tcPr/>
                </a:tc>
                <a:tc hMerge="1">
                  <a:txBody>
                    <a:bodyPr/>
                    <a:lstStyle/>
                    <a:p>
                      <a:endParaRPr lang="en-IN"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893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Paper 3</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614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
        <p:nvSpPr>
          <p:cNvPr id="4" name="Slide Number Placeholder 3">
            <a:extLst>
              <a:ext uri="{FF2B5EF4-FFF2-40B4-BE49-F238E27FC236}">
                <a16:creationId xmlns:a16="http://schemas.microsoft.com/office/drawing/2014/main" id="{A13A189E-DA39-4AEE-875C-4CC1271166A6}"/>
              </a:ext>
            </a:extLst>
          </p:cNvPr>
          <p:cNvSpPr>
            <a:spLocks noGrp="1"/>
          </p:cNvSpPr>
          <p:nvPr>
            <p:ph type="sldNum" sz="quarter" idx="12"/>
          </p:nvPr>
        </p:nvSpPr>
        <p:spPr/>
        <p:txBody>
          <a:bodyPr/>
          <a:lstStyle/>
          <a:p>
            <a:fld id="{F3CF9E0A-753D-4DEE-8B72-21047AC14C30}" type="slidenum">
              <a:rPr lang="en-US" sz="1600" smtClean="0">
                <a:solidFill>
                  <a:schemeClr val="tx1"/>
                </a:solidFill>
                <a:latin typeface="Times" panose="02020603050405020304" pitchFamily="18" charset="0"/>
                <a:cs typeface="Times" panose="02020603050405020304" pitchFamily="18" charset="0"/>
              </a:rPr>
              <a:t>5</a:t>
            </a:fld>
            <a:endParaRPr lang="en-US" sz="1600" dirty="0">
              <a:solidFill>
                <a:schemeClr val="tx1"/>
              </a:solidFill>
              <a:latin typeface="Times" panose="02020603050405020304" pitchFamily="18" charset="0"/>
              <a:cs typeface="Times" panose="02020603050405020304" pitchFamily="18" charset="0"/>
            </a:endParaRPr>
          </a:p>
        </p:txBody>
      </p:sp>
      <p:sp>
        <p:nvSpPr>
          <p:cNvPr id="2" name="Date Placeholder 1">
            <a:extLst>
              <a:ext uri="{FF2B5EF4-FFF2-40B4-BE49-F238E27FC236}">
                <a16:creationId xmlns:a16="http://schemas.microsoft.com/office/drawing/2014/main" id="{6503E310-7FAF-6904-C492-146D120F6A61}"/>
              </a:ext>
            </a:extLst>
          </p:cNvPr>
          <p:cNvSpPr>
            <a:spLocks noGrp="1"/>
          </p:cNvSpPr>
          <p:nvPr>
            <p:ph type="dt" sz="half" idx="10"/>
          </p:nvPr>
        </p:nvSpPr>
        <p:spPr/>
        <p:txBody>
          <a:bodyPr/>
          <a:lstStyle/>
          <a:p>
            <a:fld id="{A47FB462-7DA8-4033-9EC4-AB93DB40D72B}" type="datetime1">
              <a:rPr lang="en-IN" smtClean="0"/>
              <a:t>29-08-2025</a:t>
            </a:fld>
            <a:endParaRPr lang="en-IN"/>
          </a:p>
        </p:txBody>
      </p:sp>
    </p:spTree>
    <p:extLst>
      <p:ext uri="{BB962C8B-B14F-4D97-AF65-F5344CB8AC3E}">
        <p14:creationId xmlns:p14="http://schemas.microsoft.com/office/powerpoint/2010/main" val="127619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838200" y="365125"/>
            <a:ext cx="10515600" cy="728179"/>
          </a:xfrm>
        </p:spPr>
        <p:txBody>
          <a:bodyPr>
            <a:normAutofit fontScale="90000"/>
          </a:bodyPr>
          <a:lstStyle/>
          <a:p>
            <a:r>
              <a:rPr lang="en-IN" dirty="0"/>
              <a:t>Conceptual Architecture/Block Diagram and Methodology(1 slide)</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Design consisting of a block diagram explaining the main modules/parts explaining the role of each </a:t>
            </a:r>
          </a:p>
          <a:p>
            <a:r>
              <a:rPr lang="en-US" sz="1800" kern="100" dirty="0">
                <a:latin typeface="Calibri" panose="020F0502020204030204" pitchFamily="34" charset="0"/>
                <a:ea typeface="Calibri" panose="020F0502020204030204" pitchFamily="34" charset="0"/>
                <a:cs typeface="Times New Roman" panose="02020603050405020304" pitchFamily="18" charset="0"/>
              </a:rPr>
              <a:t>Methodology to be followed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6</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29-08-2025</a:t>
            </a:fld>
            <a:endParaRPr lang="en-IN"/>
          </a:p>
        </p:txBody>
      </p:sp>
    </p:spTree>
    <p:extLst>
      <p:ext uri="{BB962C8B-B14F-4D97-AF65-F5344CB8AC3E}">
        <p14:creationId xmlns:p14="http://schemas.microsoft.com/office/powerpoint/2010/main" val="619156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502920" y="338554"/>
            <a:ext cx="10515600" cy="728179"/>
          </a:xfrm>
        </p:spPr>
        <p:txBody>
          <a:bodyPr>
            <a:normAutofit fontScale="90000"/>
          </a:bodyPr>
          <a:lstStyle/>
          <a:p>
            <a:r>
              <a:rPr lang="en-IN" dirty="0"/>
              <a:t>Circuit Diagram/ Specifications of each block </a:t>
            </a:r>
            <a:br>
              <a:rPr lang="en-IN" dirty="0"/>
            </a:br>
            <a:r>
              <a:rPr lang="en-IN" dirty="0"/>
              <a:t>(1 slide)</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US" sz="1800"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Maximum 4 slides</a:t>
            </a:r>
            <a:endParaRPr lang="en-US"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Specifications/circuit diagrams of each module (to the extent you can) – this will show how much you have progressed in terms of execution of your project (literature survey will show how much you have progressed in terms of understanding the intricacies of your project)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7</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29-08-2025</a:t>
            </a:fld>
            <a:endParaRPr lang="en-IN"/>
          </a:p>
        </p:txBody>
      </p:sp>
    </p:spTree>
    <p:extLst>
      <p:ext uri="{BB962C8B-B14F-4D97-AF65-F5344CB8AC3E}">
        <p14:creationId xmlns:p14="http://schemas.microsoft.com/office/powerpoint/2010/main" val="3155037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502920" y="338554"/>
            <a:ext cx="10515600" cy="728179"/>
          </a:xfrm>
        </p:spPr>
        <p:txBody>
          <a:bodyPr>
            <a:normAutofit/>
          </a:bodyPr>
          <a:lstStyle/>
          <a:p>
            <a:r>
              <a:rPr lang="en-IN" dirty="0"/>
              <a:t>Partial Results and Analysis</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IN" sz="18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Maximum 3 slides</a:t>
            </a:r>
            <a:endParaRPr lang="en-IN"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Specifications/circuit diagrams of each module (to the extent you can) – this will show how much you have progressed in terms of execution of your project (literature survey will show how much you have progressed in terms of understanding the intricacies of your project)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8</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29-08-2025</a:t>
            </a:fld>
            <a:endParaRPr lang="en-IN"/>
          </a:p>
        </p:txBody>
      </p:sp>
    </p:spTree>
    <p:extLst>
      <p:ext uri="{BB962C8B-B14F-4D97-AF65-F5344CB8AC3E}">
        <p14:creationId xmlns:p14="http://schemas.microsoft.com/office/powerpoint/2010/main" val="486763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825B-DAC7-E75E-C332-67C5C12B45E9}"/>
              </a:ext>
            </a:extLst>
          </p:cNvPr>
          <p:cNvSpPr>
            <a:spLocks noGrp="1"/>
          </p:cNvSpPr>
          <p:nvPr>
            <p:ph type="title"/>
          </p:nvPr>
        </p:nvSpPr>
        <p:spPr/>
        <p:txBody>
          <a:bodyPr/>
          <a:lstStyle/>
          <a:p>
            <a:r>
              <a:rPr lang="en-IN" dirty="0" err="1"/>
              <a:t>Workdone</a:t>
            </a:r>
            <a:r>
              <a:rPr lang="en-IN" dirty="0"/>
              <a:t> so far and Work to be completed</a:t>
            </a:r>
          </a:p>
        </p:txBody>
      </p:sp>
      <p:sp>
        <p:nvSpPr>
          <p:cNvPr id="3" name="Content Placeholder 2">
            <a:extLst>
              <a:ext uri="{FF2B5EF4-FFF2-40B4-BE49-F238E27FC236}">
                <a16:creationId xmlns:a16="http://schemas.microsoft.com/office/drawing/2014/main" id="{24B29C10-6C26-C8CB-6D05-5F3F471AD830}"/>
              </a:ext>
            </a:extLst>
          </p:cNvPr>
          <p:cNvSpPr>
            <a:spLocks noGrp="1"/>
          </p:cNvSpPr>
          <p:nvPr>
            <p:ph idx="1"/>
          </p:nvPr>
        </p:nvSpPr>
        <p:spPr/>
        <p:txBody>
          <a:bodyPr>
            <a:normAutofit/>
          </a:bodyPr>
          <a:lstStyle/>
          <a:p>
            <a:r>
              <a:rPr lang="en-IN" sz="20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One slide</a:t>
            </a:r>
            <a:endParaRPr lang="en-IN" sz="20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endParaRPr lang="en-IN" sz="2000" dirty="0"/>
          </a:p>
        </p:txBody>
      </p:sp>
      <p:sp>
        <p:nvSpPr>
          <p:cNvPr id="4" name="Slide Number Placeholder 3">
            <a:extLst>
              <a:ext uri="{FF2B5EF4-FFF2-40B4-BE49-F238E27FC236}">
                <a16:creationId xmlns:a16="http://schemas.microsoft.com/office/drawing/2014/main" id="{BC8CCDC7-AFDB-C62C-1297-9CD3B9360ACC}"/>
              </a:ext>
            </a:extLst>
          </p:cNvPr>
          <p:cNvSpPr>
            <a:spLocks noGrp="1"/>
          </p:cNvSpPr>
          <p:nvPr>
            <p:ph type="sldNum" sz="quarter" idx="12"/>
          </p:nvPr>
        </p:nvSpPr>
        <p:spPr/>
        <p:txBody>
          <a:bodyPr/>
          <a:lstStyle/>
          <a:p>
            <a:fld id="{C0898A6D-CD5C-4802-925B-E5FD8D219589}" type="slidenum">
              <a:rPr lang="en-IN" smtClean="0"/>
              <a:t>9</a:t>
            </a:fld>
            <a:endParaRPr lang="en-IN"/>
          </a:p>
        </p:txBody>
      </p:sp>
      <p:sp>
        <p:nvSpPr>
          <p:cNvPr id="6" name="Date Placeholder 5">
            <a:extLst>
              <a:ext uri="{FF2B5EF4-FFF2-40B4-BE49-F238E27FC236}">
                <a16:creationId xmlns:a16="http://schemas.microsoft.com/office/drawing/2014/main" id="{A110D2C2-35D3-053D-1811-4B85B9C1E569}"/>
              </a:ext>
            </a:extLst>
          </p:cNvPr>
          <p:cNvSpPr>
            <a:spLocks noGrp="1"/>
          </p:cNvSpPr>
          <p:nvPr>
            <p:ph type="dt" sz="half" idx="10"/>
          </p:nvPr>
        </p:nvSpPr>
        <p:spPr/>
        <p:txBody>
          <a:bodyPr/>
          <a:lstStyle/>
          <a:p>
            <a:fld id="{243B4E8F-5A83-4CEE-81F0-B8CDCE3AA67F}" type="datetime1">
              <a:rPr lang="en-IN" smtClean="0"/>
              <a:t>29-08-2025</a:t>
            </a:fld>
            <a:endParaRPr lang="en-IN"/>
          </a:p>
        </p:txBody>
      </p:sp>
    </p:spTree>
    <p:extLst>
      <p:ext uri="{BB962C8B-B14F-4D97-AF65-F5344CB8AC3E}">
        <p14:creationId xmlns:p14="http://schemas.microsoft.com/office/powerpoint/2010/main" val="3826795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9DC5-725B-48E5-6A87-4101BC537262}"/>
              </a:ext>
            </a:extLst>
          </p:cNvPr>
          <p:cNvSpPr>
            <a:spLocks noGrp="1"/>
          </p:cNvSpPr>
          <p:nvPr>
            <p:ph type="title"/>
          </p:nvPr>
        </p:nvSpPr>
        <p:spPr/>
        <p:txBody>
          <a:bodyPr/>
          <a:lstStyle/>
          <a:p>
            <a:r>
              <a:rPr lang="en-IN" dirty="0"/>
              <a:t>Timeline</a:t>
            </a:r>
          </a:p>
        </p:txBody>
      </p:sp>
      <p:sp>
        <p:nvSpPr>
          <p:cNvPr id="3" name="Content Placeholder 2">
            <a:extLst>
              <a:ext uri="{FF2B5EF4-FFF2-40B4-BE49-F238E27FC236}">
                <a16:creationId xmlns:a16="http://schemas.microsoft.com/office/drawing/2014/main" id="{7AD70C29-5585-EAB8-6398-61D6BFD09367}"/>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BD6A8BD7-CB6A-5B5E-0B90-82BCAA247B18}"/>
              </a:ext>
            </a:extLst>
          </p:cNvPr>
          <p:cNvSpPr>
            <a:spLocks noGrp="1"/>
          </p:cNvSpPr>
          <p:nvPr>
            <p:ph type="dt" sz="half" idx="10"/>
          </p:nvPr>
        </p:nvSpPr>
        <p:spPr/>
        <p:txBody>
          <a:bodyPr/>
          <a:lstStyle/>
          <a:p>
            <a:fld id="{6E83D928-BDD7-4354-9A29-8AD08345FC2F}" type="datetime1">
              <a:rPr lang="en-IN" smtClean="0"/>
              <a:t>29-08-2025</a:t>
            </a:fld>
            <a:endParaRPr lang="en-IN"/>
          </a:p>
        </p:txBody>
      </p:sp>
      <p:sp>
        <p:nvSpPr>
          <p:cNvPr id="5" name="Slide Number Placeholder 4">
            <a:extLst>
              <a:ext uri="{FF2B5EF4-FFF2-40B4-BE49-F238E27FC236}">
                <a16:creationId xmlns:a16="http://schemas.microsoft.com/office/drawing/2014/main" id="{D05019BD-061D-A084-B497-8504D05B2085}"/>
              </a:ext>
            </a:extLst>
          </p:cNvPr>
          <p:cNvSpPr>
            <a:spLocks noGrp="1"/>
          </p:cNvSpPr>
          <p:nvPr>
            <p:ph type="sldNum" sz="quarter" idx="12"/>
          </p:nvPr>
        </p:nvSpPr>
        <p:spPr/>
        <p:txBody>
          <a:bodyPr/>
          <a:lstStyle/>
          <a:p>
            <a:fld id="{C0898A6D-CD5C-4802-925B-E5FD8D219589}" type="slidenum">
              <a:rPr lang="en-IN" smtClean="0"/>
              <a:t>10</a:t>
            </a:fld>
            <a:endParaRPr lang="en-IN"/>
          </a:p>
        </p:txBody>
      </p:sp>
    </p:spTree>
    <p:extLst>
      <p:ext uri="{BB962C8B-B14F-4D97-AF65-F5344CB8AC3E}">
        <p14:creationId xmlns:p14="http://schemas.microsoft.com/office/powerpoint/2010/main" val="1729656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AE967-E666-6627-C3BA-860A8F3FC781}"/>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6D22F16-1800-BF5C-68C8-6F79A83B1EF7}"/>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List all references in IEEE format </a:t>
            </a:r>
          </a:p>
          <a:p>
            <a:r>
              <a:rPr lang="en-US" sz="1800" b="1" kern="100" dirty="0">
                <a:latin typeface="Calibri" panose="020F0502020204030204" pitchFamily="34" charset="0"/>
                <a:ea typeface="Calibri" panose="020F0502020204030204" pitchFamily="34" charset="0"/>
                <a:cs typeface="Times New Roman" panose="02020603050405020304" pitchFamily="18" charset="0"/>
              </a:rPr>
              <a:t>stop here for Q&amp;A</a:t>
            </a:r>
            <a:endParaRPr lang="en-IN" sz="1800" kern="100" dirty="0">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24F10102-1AE7-774C-CFA7-7659BAB59712}"/>
              </a:ext>
            </a:extLst>
          </p:cNvPr>
          <p:cNvSpPr>
            <a:spLocks noGrp="1"/>
          </p:cNvSpPr>
          <p:nvPr>
            <p:ph type="sldNum" sz="quarter" idx="12"/>
          </p:nvPr>
        </p:nvSpPr>
        <p:spPr/>
        <p:txBody>
          <a:bodyPr/>
          <a:lstStyle/>
          <a:p>
            <a:fld id="{C0898A6D-CD5C-4802-925B-E5FD8D219589}" type="slidenum">
              <a:rPr lang="en-IN" smtClean="0"/>
              <a:t>11</a:t>
            </a:fld>
            <a:endParaRPr lang="en-IN"/>
          </a:p>
        </p:txBody>
      </p:sp>
      <p:sp>
        <p:nvSpPr>
          <p:cNvPr id="6" name="Date Placeholder 5">
            <a:extLst>
              <a:ext uri="{FF2B5EF4-FFF2-40B4-BE49-F238E27FC236}">
                <a16:creationId xmlns:a16="http://schemas.microsoft.com/office/drawing/2014/main" id="{1F0E3F11-B1D5-C3CD-60F2-D47A13A023FC}"/>
              </a:ext>
            </a:extLst>
          </p:cNvPr>
          <p:cNvSpPr>
            <a:spLocks noGrp="1"/>
          </p:cNvSpPr>
          <p:nvPr>
            <p:ph type="dt" sz="half" idx="10"/>
          </p:nvPr>
        </p:nvSpPr>
        <p:spPr/>
        <p:txBody>
          <a:bodyPr/>
          <a:lstStyle/>
          <a:p>
            <a:fld id="{4F2243A4-1204-4A52-9075-9BB75F2D5078}" type="datetime1">
              <a:rPr lang="en-IN" smtClean="0"/>
              <a:t>29-08-2025</a:t>
            </a:fld>
            <a:endParaRPr lang="en-IN"/>
          </a:p>
        </p:txBody>
      </p:sp>
    </p:spTree>
    <p:extLst>
      <p:ext uri="{BB962C8B-B14F-4D97-AF65-F5344CB8AC3E}">
        <p14:creationId xmlns:p14="http://schemas.microsoft.com/office/powerpoint/2010/main" val="31632648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3221</TotalTime>
  <Words>475</Words>
  <Application>Microsoft Office PowerPoint</Application>
  <PresentationFormat>Widescreen</PresentationFormat>
  <Paragraphs>81</Paragraphs>
  <Slides>11</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Georgia</vt:lpstr>
      <vt:lpstr>Times</vt:lpstr>
      <vt:lpstr>Times New Roman</vt:lpstr>
      <vt:lpstr>Office Theme</vt:lpstr>
      <vt:lpstr>PowerPoint Presentation</vt:lpstr>
      <vt:lpstr>MOTIVATION/PROBLEM STATEMENT</vt:lpstr>
      <vt:lpstr>OBJECTIVE</vt:lpstr>
      <vt:lpstr>LITERATURE SURVEY</vt:lpstr>
      <vt:lpstr>SUMMARY OF LITERATURE SURVEY</vt:lpstr>
      <vt:lpstr>Conceptual Architecture/Block Diagram and Methodology(1 slide)</vt:lpstr>
      <vt:lpstr>Circuit Diagram/ Specifications of each block  (1 slide)</vt:lpstr>
      <vt:lpstr>Partial Results and Analysis</vt:lpstr>
      <vt:lpstr>Workdone so far and Work to be completed</vt:lpstr>
      <vt:lpstr>Timeline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SURVEY</dc:title>
  <dc:creator>Venkata Sai Vivek Potnuru</dc:creator>
  <cp:lastModifiedBy>Dheeraj Reddy.B-[BL.EN.U4ECE23112]</cp:lastModifiedBy>
  <cp:revision>134</cp:revision>
  <dcterms:created xsi:type="dcterms:W3CDTF">2021-11-03T05:08:25Z</dcterms:created>
  <dcterms:modified xsi:type="dcterms:W3CDTF">2025-08-29T06:13:16Z</dcterms:modified>
</cp:coreProperties>
</file>